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embeddedFontLst>
    <p:embeddedFont>
      <p:font typeface="Barlow" panose="00000500000000000000" pitchFamily="2" charset="-18"/>
      <p:regular r:id="rId13"/>
      <p:bold r:id="rId14"/>
      <p:italic r:id="rId15"/>
      <p:boldItalic r:id="rId16"/>
    </p:embeddedFont>
    <p:embeddedFont>
      <p:font typeface="Barlow Bold" panose="00000800000000000000" charset="-18"/>
      <p:regular r:id="rId17"/>
    </p:embeddedFont>
    <p:embeddedFont>
      <p:font typeface="Barlow Medium" panose="00000600000000000000" pitchFamily="2" charset="-18"/>
      <p:regular r:id="rId18"/>
    </p:embeddedFont>
    <p:embeddedFont>
      <p:font typeface="Calibri" panose="020F0502020204030204" pitchFamily="34" charset="0"/>
      <p:regular r:id="rId19"/>
      <p:bold r:id="rId20"/>
      <p:italic r:id="rId21"/>
      <p:boldItalic r:id="rId2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47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9.fntdata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font" Target="fonts/font10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296299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91718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4200" y="2274954"/>
            <a:ext cx="10723294" cy="582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3650" dirty="0">
                <a:solidFill>
                  <a:srgbClr val="FFFFF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Új Szem</a:t>
            </a:r>
            <a:endParaRPr lang="en-US" sz="3650" dirty="0"/>
          </a:p>
        </p:txBody>
      </p:sp>
      <p:sp>
        <p:nvSpPr>
          <p:cNvPr id="3" name="Text 1"/>
          <p:cNvSpPr/>
          <p:nvPr/>
        </p:nvSpPr>
        <p:spPr>
          <a:xfrm>
            <a:off x="734200" y="3546607"/>
            <a:ext cx="10723294" cy="9074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3000"/>
              </a:lnSpc>
              <a:spcAft>
                <a:spcPts val="1850"/>
              </a:spcAft>
              <a:buNone/>
            </a:pPr>
            <a:r>
              <a:rPr lang="en-US" sz="1650" dirty="0">
                <a:solidFill>
                  <a:srgbClr val="E5E0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Hírportál</a:t>
            </a:r>
            <a:endParaRPr lang="en-US" sz="1650" dirty="0"/>
          </a:p>
          <a:p>
            <a:pPr marL="0" indent="0" algn="ctr">
              <a:lnSpc>
                <a:spcPct val="133000"/>
              </a:lnSpc>
              <a:buNone/>
            </a:pPr>
            <a:r>
              <a:rPr lang="en-US" sz="1650" dirty="0">
                <a:solidFill>
                  <a:srgbClr val="E5E0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Mihályi Márton, Fábián Zoltán, Erdélyi Zsolt</a:t>
            </a:r>
            <a:endParaRPr lang="en-US" sz="1650" dirty="0"/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8784C835-84D6-4030-9B5D-9501E1B28B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13391" y="6343578"/>
            <a:ext cx="1514686" cy="514422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FC71FE45-6223-4C16-BC52-C62E38A45F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87795" y="318613"/>
            <a:ext cx="765877" cy="76587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4200" y="2103393"/>
            <a:ext cx="10723294" cy="582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dirty="0">
                <a:solidFill>
                  <a:srgbClr val="FFFFF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A projekt célja</a:t>
            </a:r>
            <a:endParaRPr lang="en-US" sz="3650" dirty="0"/>
          </a:p>
        </p:txBody>
      </p:sp>
      <p:sp>
        <p:nvSpPr>
          <p:cNvPr id="3" name="Text 1"/>
          <p:cNvSpPr/>
          <p:nvPr/>
        </p:nvSpPr>
        <p:spPr>
          <a:xfrm>
            <a:off x="734200" y="3067248"/>
            <a:ext cx="11332879" cy="3357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50" dirty="0">
                <a:solidFill>
                  <a:srgbClr val="E5E0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Modern online felület társadalmi, kulturális és kritikai írások publikálásához és olvasásához.</a:t>
            </a:r>
            <a:endParaRPr lang="en-US" sz="1650" dirty="0"/>
          </a:p>
        </p:txBody>
      </p:sp>
      <p:sp>
        <p:nvSpPr>
          <p:cNvPr id="4" name="Text 2"/>
          <p:cNvSpPr/>
          <p:nvPr/>
        </p:nvSpPr>
        <p:spPr>
          <a:xfrm>
            <a:off x="734200" y="3638947"/>
            <a:ext cx="10723294" cy="1154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35280" indent="-335280" algn="l">
              <a:lnSpc>
                <a:spcPct val="133000"/>
              </a:lnSpc>
              <a:buSzPct val="100000"/>
              <a:buChar char="•"/>
            </a:pPr>
            <a:r>
              <a:rPr lang="en-US" sz="1650" dirty="0">
                <a:solidFill>
                  <a:srgbClr val="E5E0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Böngészés kategóriák szerint</a:t>
            </a:r>
            <a:endParaRPr lang="en-US" sz="1650" dirty="0"/>
          </a:p>
          <a:p>
            <a:pPr marL="335280" indent="-335280" algn="l">
              <a:lnSpc>
                <a:spcPct val="133000"/>
              </a:lnSpc>
              <a:buSzPct val="100000"/>
              <a:buChar char="•"/>
            </a:pPr>
            <a:r>
              <a:rPr lang="en-US" sz="1650" dirty="0">
                <a:solidFill>
                  <a:srgbClr val="E5E0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Szerzők követése</a:t>
            </a:r>
            <a:endParaRPr lang="en-US" sz="1650" dirty="0"/>
          </a:p>
          <a:p>
            <a:pPr marL="335280" indent="-335280" algn="l">
              <a:lnSpc>
                <a:spcPct val="133000"/>
              </a:lnSpc>
              <a:buSzPct val="100000"/>
              <a:buChar char="•"/>
            </a:pPr>
            <a:r>
              <a:rPr lang="en-US" sz="1650" dirty="0">
                <a:solidFill>
                  <a:srgbClr val="E5E0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Cikkek könyvjelzőzése</a:t>
            </a:r>
            <a:endParaRPr lang="en-US" sz="1650" dirty="0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BFCDA7D5-CBE9-4136-8A0E-4E26CEBE73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77314" y="6343578"/>
            <a:ext cx="1514686" cy="514422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69CA618E-8F2A-4A4B-BC4E-43D3817943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87795" y="318613"/>
            <a:ext cx="765877" cy="76587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4200" y="2031558"/>
            <a:ext cx="10723294" cy="582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dirty="0">
                <a:solidFill>
                  <a:srgbClr val="FFFFF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Célközönség</a:t>
            </a:r>
            <a:endParaRPr lang="en-US" sz="3650" dirty="0"/>
          </a:p>
        </p:txBody>
      </p:sp>
      <p:sp>
        <p:nvSpPr>
          <p:cNvPr id="3" name="Shape 1"/>
          <p:cNvSpPr/>
          <p:nvPr/>
        </p:nvSpPr>
        <p:spPr>
          <a:xfrm>
            <a:off x="734200" y="2995414"/>
            <a:ext cx="3434570" cy="1869380"/>
          </a:xfrm>
          <a:prstGeom prst="roundRect">
            <a:avLst>
              <a:gd name="adj" fmla="val 4714"/>
            </a:avLst>
          </a:prstGeom>
          <a:solidFill>
            <a:srgbClr val="790709"/>
          </a:solidFill>
          <a:ln w="12700">
            <a:solidFill>
              <a:srgbClr val="9220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56643" y="3217863"/>
            <a:ext cx="2989684" cy="2914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E5E0D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Olvasók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56643" y="3635077"/>
            <a:ext cx="2989684" cy="10072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50" dirty="0">
                <a:solidFill>
                  <a:srgbClr val="E5E0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Kultúra, film, filozófia és társadalomelméleti témák iránt érdeklődők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4378513" y="2995414"/>
            <a:ext cx="3434570" cy="1869380"/>
          </a:xfrm>
          <a:prstGeom prst="roundRect">
            <a:avLst>
              <a:gd name="adj" fmla="val 4714"/>
            </a:avLst>
          </a:prstGeom>
          <a:solidFill>
            <a:srgbClr val="790709"/>
          </a:solidFill>
          <a:ln w="12700">
            <a:solidFill>
              <a:srgbClr val="9220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600956" y="3217863"/>
            <a:ext cx="2989684" cy="2914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E5E0D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Szerzők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600956" y="3635077"/>
            <a:ext cx="2989684" cy="6715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50" dirty="0">
                <a:solidFill>
                  <a:srgbClr val="E5E0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Publikációs lehetőséget kereső alkotók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8022826" y="2995414"/>
            <a:ext cx="3434669" cy="1869380"/>
          </a:xfrm>
          <a:prstGeom prst="roundRect">
            <a:avLst>
              <a:gd name="adj" fmla="val 4714"/>
            </a:avLst>
          </a:prstGeom>
          <a:solidFill>
            <a:srgbClr val="790709"/>
          </a:solidFill>
          <a:ln w="12700">
            <a:solidFill>
              <a:srgbClr val="92202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45269" y="3217863"/>
            <a:ext cx="2989783" cy="2914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E5E0D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Szerkesztők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245269" y="3635077"/>
            <a:ext cx="2989783" cy="3357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50" dirty="0">
                <a:solidFill>
                  <a:srgbClr val="E5E0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Tartalom kurálása és kezelése</a:t>
            </a:r>
            <a:endParaRPr lang="en-US" sz="1650" dirty="0"/>
          </a:p>
        </p:txBody>
      </p:sp>
      <p:pic>
        <p:nvPicPr>
          <p:cNvPr id="13" name="Kép 12">
            <a:extLst>
              <a:ext uri="{FF2B5EF4-FFF2-40B4-BE49-F238E27FC236}">
                <a16:creationId xmlns:a16="http://schemas.microsoft.com/office/drawing/2014/main" id="{E87F49C5-58F2-4F50-A3B6-7C6D1DC2D0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77314" y="6343578"/>
            <a:ext cx="1514686" cy="514422"/>
          </a:xfrm>
          <a:prstGeom prst="rect">
            <a:avLst/>
          </a:prstGeom>
        </p:spPr>
      </p:pic>
      <p:pic>
        <p:nvPicPr>
          <p:cNvPr id="14" name="Kép 13">
            <a:extLst>
              <a:ext uri="{FF2B5EF4-FFF2-40B4-BE49-F238E27FC236}">
                <a16:creationId xmlns:a16="http://schemas.microsoft.com/office/drawing/2014/main" id="{D951B0D4-FCBB-4654-9FC5-3881E6DAFE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87795" y="318613"/>
            <a:ext cx="765877" cy="76587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4200" y="1464424"/>
            <a:ext cx="10723294" cy="582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dirty="0">
                <a:solidFill>
                  <a:srgbClr val="FFFFF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Fő funkciók</a:t>
            </a:r>
            <a:endParaRPr lang="en-US" sz="3650" dirty="0"/>
          </a:p>
        </p:txBody>
      </p:sp>
      <p:sp>
        <p:nvSpPr>
          <p:cNvPr id="3" name="Text 1"/>
          <p:cNvSpPr/>
          <p:nvPr/>
        </p:nvSpPr>
        <p:spPr>
          <a:xfrm>
            <a:off x="734200" y="2428280"/>
            <a:ext cx="419586" cy="2622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50" dirty="0">
                <a:solidFill>
                  <a:srgbClr val="E5E0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01</a:t>
            </a:r>
            <a:endParaRPr lang="en-US" sz="1650" dirty="0"/>
          </a:p>
        </p:txBody>
      </p:sp>
      <p:sp>
        <p:nvSpPr>
          <p:cNvPr id="4" name="Shape 2"/>
          <p:cNvSpPr/>
          <p:nvPr/>
        </p:nvSpPr>
        <p:spPr>
          <a:xfrm>
            <a:off x="734200" y="2759373"/>
            <a:ext cx="3434570" cy="25400"/>
          </a:xfrm>
          <a:prstGeom prst="rect">
            <a:avLst/>
          </a:prstGeom>
          <a:solidFill>
            <a:srgbClr val="F65F62"/>
          </a:solidFill>
          <a:ln/>
        </p:spPr>
      </p:sp>
      <p:sp>
        <p:nvSpPr>
          <p:cNvPr id="5" name="Text 3"/>
          <p:cNvSpPr/>
          <p:nvPr/>
        </p:nvSpPr>
        <p:spPr>
          <a:xfrm>
            <a:off x="734200" y="2915047"/>
            <a:ext cx="3434570" cy="2914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E5E0D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Főoldal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4200" y="3332262"/>
            <a:ext cx="3434570" cy="3357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50" dirty="0">
                <a:solidFill>
                  <a:srgbClr val="E5E0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Legújabb publikációk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4378513" y="2428280"/>
            <a:ext cx="419586" cy="2622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50" dirty="0">
                <a:solidFill>
                  <a:srgbClr val="E5E0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02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4378513" y="2759373"/>
            <a:ext cx="3434570" cy="25400"/>
          </a:xfrm>
          <a:prstGeom prst="rect">
            <a:avLst/>
          </a:prstGeom>
          <a:solidFill>
            <a:srgbClr val="F65F62"/>
          </a:solidFill>
          <a:ln/>
        </p:spPr>
      </p:sp>
      <p:sp>
        <p:nvSpPr>
          <p:cNvPr id="9" name="Text 7"/>
          <p:cNvSpPr/>
          <p:nvPr/>
        </p:nvSpPr>
        <p:spPr>
          <a:xfrm>
            <a:off x="4378513" y="2915047"/>
            <a:ext cx="3434570" cy="2914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E5E0D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Böngészés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378513" y="3332262"/>
            <a:ext cx="3434570" cy="3357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50" dirty="0">
                <a:solidFill>
                  <a:srgbClr val="E5E0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Kategória alapú navigáció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8022826" y="2428280"/>
            <a:ext cx="419586" cy="2622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50" dirty="0">
                <a:solidFill>
                  <a:srgbClr val="E5E0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03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8022826" y="2759373"/>
            <a:ext cx="3434669" cy="25400"/>
          </a:xfrm>
          <a:prstGeom prst="rect">
            <a:avLst/>
          </a:prstGeom>
          <a:solidFill>
            <a:srgbClr val="F65F62"/>
          </a:solidFill>
          <a:ln/>
        </p:spPr>
      </p:sp>
      <p:sp>
        <p:nvSpPr>
          <p:cNvPr id="13" name="Text 11"/>
          <p:cNvSpPr/>
          <p:nvPr/>
        </p:nvSpPr>
        <p:spPr>
          <a:xfrm>
            <a:off x="8022826" y="2915047"/>
            <a:ext cx="3434669" cy="2914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E5E0D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Profilok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022826" y="3332262"/>
            <a:ext cx="3434669" cy="3357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50" dirty="0">
                <a:solidFill>
                  <a:srgbClr val="E5E0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Szerzői és felhasználói oldalak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734200" y="4035028"/>
            <a:ext cx="419586" cy="2622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50" dirty="0">
                <a:solidFill>
                  <a:srgbClr val="E5E0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04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734200" y="4366121"/>
            <a:ext cx="5256776" cy="25400"/>
          </a:xfrm>
          <a:prstGeom prst="rect">
            <a:avLst/>
          </a:prstGeom>
          <a:solidFill>
            <a:srgbClr val="F65F62"/>
          </a:solidFill>
          <a:ln/>
        </p:spPr>
      </p:sp>
      <p:sp>
        <p:nvSpPr>
          <p:cNvPr id="17" name="Text 15"/>
          <p:cNvSpPr/>
          <p:nvPr/>
        </p:nvSpPr>
        <p:spPr>
          <a:xfrm>
            <a:off x="734200" y="4521795"/>
            <a:ext cx="5256776" cy="2914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E5E0D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Könyvjelzők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734200" y="4939010"/>
            <a:ext cx="5256776" cy="3357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50" dirty="0">
                <a:solidFill>
                  <a:srgbClr val="E5E0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Mentés és szerzőkövetés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6200719" y="4035028"/>
            <a:ext cx="419586" cy="2622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50" dirty="0">
                <a:solidFill>
                  <a:srgbClr val="E5E0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05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6200719" y="4366121"/>
            <a:ext cx="5256776" cy="25400"/>
          </a:xfrm>
          <a:prstGeom prst="rect">
            <a:avLst/>
          </a:prstGeom>
          <a:solidFill>
            <a:srgbClr val="F65F62"/>
          </a:solidFill>
          <a:ln/>
        </p:spPr>
      </p:sp>
      <p:sp>
        <p:nvSpPr>
          <p:cNvPr id="21" name="Text 19"/>
          <p:cNvSpPr/>
          <p:nvPr/>
        </p:nvSpPr>
        <p:spPr>
          <a:xfrm>
            <a:off x="6200719" y="4521795"/>
            <a:ext cx="5256776" cy="2914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E5E0D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Admin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200719" y="4939010"/>
            <a:ext cx="5256776" cy="3357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50" dirty="0">
                <a:solidFill>
                  <a:srgbClr val="E5E0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Cikkfeltöltés és tartalomkezelés</a:t>
            </a:r>
            <a:endParaRPr lang="en-US" sz="1650" dirty="0"/>
          </a:p>
        </p:txBody>
      </p:sp>
      <p:pic>
        <p:nvPicPr>
          <p:cNvPr id="26" name="Kép 25">
            <a:extLst>
              <a:ext uri="{FF2B5EF4-FFF2-40B4-BE49-F238E27FC236}">
                <a16:creationId xmlns:a16="http://schemas.microsoft.com/office/drawing/2014/main" id="{C73F3452-9C55-4A1F-BD53-440371F96B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77314" y="6343578"/>
            <a:ext cx="1514686" cy="514422"/>
          </a:xfrm>
          <a:prstGeom prst="rect">
            <a:avLst/>
          </a:prstGeom>
        </p:spPr>
      </p:pic>
      <p:pic>
        <p:nvPicPr>
          <p:cNvPr id="27" name="Kép 26">
            <a:extLst>
              <a:ext uri="{FF2B5EF4-FFF2-40B4-BE49-F238E27FC236}">
                <a16:creationId xmlns:a16="http://schemas.microsoft.com/office/drawing/2014/main" id="{443DE5EE-F2B3-45AD-A0C8-46F6094B91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87795" y="318613"/>
            <a:ext cx="765877" cy="76587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4200" y="2389242"/>
            <a:ext cx="10723294" cy="582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dirty="0">
                <a:solidFill>
                  <a:srgbClr val="FFFFF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Felhasználói szerepkörök</a:t>
            </a:r>
            <a:endParaRPr lang="en-US" sz="3650" dirty="0"/>
          </a:p>
        </p:txBody>
      </p:sp>
      <p:sp>
        <p:nvSpPr>
          <p:cNvPr id="3" name="Text 1"/>
          <p:cNvSpPr/>
          <p:nvPr/>
        </p:nvSpPr>
        <p:spPr>
          <a:xfrm>
            <a:off x="734200" y="3353098"/>
            <a:ext cx="10723294" cy="1154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35280" indent="-335280" algn="l">
              <a:lnSpc>
                <a:spcPct val="133000"/>
              </a:lnSpc>
              <a:buSzPct val="100000"/>
              <a:buChar char="•"/>
            </a:pPr>
            <a:r>
              <a:rPr lang="en-US" sz="1650" b="1" dirty="0">
                <a:solidFill>
                  <a:srgbClr val="E5E0DF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Olvasók:</a:t>
            </a:r>
            <a:r>
              <a:rPr lang="en-US" sz="1650" dirty="0">
                <a:solidFill>
                  <a:srgbClr val="E5E0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cikkek böngészése és mentése</a:t>
            </a:r>
            <a:endParaRPr lang="en-US" sz="1650" dirty="0"/>
          </a:p>
          <a:p>
            <a:pPr marL="335280" indent="-335280" algn="l">
              <a:lnSpc>
                <a:spcPct val="133000"/>
              </a:lnSpc>
              <a:buSzPct val="100000"/>
              <a:buChar char="•"/>
            </a:pPr>
            <a:r>
              <a:rPr lang="en-US" sz="1650" b="1" dirty="0">
                <a:solidFill>
                  <a:srgbClr val="E5E0DF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Szerkesztők:</a:t>
            </a:r>
            <a:r>
              <a:rPr lang="en-US" sz="1650" dirty="0">
                <a:solidFill>
                  <a:srgbClr val="E5E0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saját cikkek publikálása</a:t>
            </a:r>
            <a:endParaRPr lang="en-US" sz="1650" dirty="0"/>
          </a:p>
          <a:p>
            <a:pPr marL="335280" indent="-335280" algn="l">
              <a:lnSpc>
                <a:spcPct val="133000"/>
              </a:lnSpc>
              <a:buSzPct val="100000"/>
              <a:buChar char="•"/>
            </a:pPr>
            <a:r>
              <a:rPr lang="en-US" sz="1650" b="1" dirty="0">
                <a:solidFill>
                  <a:srgbClr val="E5E0DF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Adminisztrátorok:</a:t>
            </a:r>
            <a:r>
              <a:rPr lang="en-US" sz="1650" dirty="0">
                <a:solidFill>
                  <a:srgbClr val="E5E0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felhasználók, kategóriák és tartalom kezelése</a:t>
            </a:r>
            <a:endParaRPr lang="en-US" sz="1650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B774E6B0-B6B4-4E2F-9E4F-AC29072A9F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9581" y="6343578"/>
            <a:ext cx="1514686" cy="514422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7F80FB3D-6313-4A8D-A54A-FCF1D36EC2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87795" y="318613"/>
            <a:ext cx="765877" cy="76587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4200" y="1613947"/>
            <a:ext cx="10723294" cy="582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dirty="0">
                <a:solidFill>
                  <a:srgbClr val="FFFFF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Oldalstruktúra</a:t>
            </a:r>
            <a:endParaRPr lang="en-US" sz="3650" dirty="0"/>
          </a:p>
        </p:txBody>
      </p:sp>
      <p:sp>
        <p:nvSpPr>
          <p:cNvPr id="3" name="Shape 1"/>
          <p:cNvSpPr/>
          <p:nvPr/>
        </p:nvSpPr>
        <p:spPr>
          <a:xfrm>
            <a:off x="734200" y="2577802"/>
            <a:ext cx="5256776" cy="761702"/>
          </a:xfrm>
          <a:prstGeom prst="roundRect">
            <a:avLst>
              <a:gd name="adj" fmla="val 11568"/>
            </a:avLst>
          </a:prstGeom>
          <a:solidFill>
            <a:srgbClr val="191718">
              <a:alpha val="95000"/>
            </a:srgbClr>
          </a:solidFill>
          <a:ln w="25399">
            <a:solidFill>
              <a:srgbClr val="9220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69343" y="2812951"/>
            <a:ext cx="4786490" cy="2914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E5E0D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Főoldal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200719" y="2577802"/>
            <a:ext cx="5256776" cy="761702"/>
          </a:xfrm>
          <a:prstGeom prst="roundRect">
            <a:avLst>
              <a:gd name="adj" fmla="val 11568"/>
            </a:avLst>
          </a:prstGeom>
          <a:solidFill>
            <a:srgbClr val="191718">
              <a:alpha val="95000"/>
            </a:srgbClr>
          </a:solidFill>
          <a:ln w="25399">
            <a:solidFill>
              <a:srgbClr val="92202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35862" y="2812951"/>
            <a:ext cx="4786490" cy="2914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E5E0D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Kategóriaoldalak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34200" y="3549253"/>
            <a:ext cx="5256776" cy="761702"/>
          </a:xfrm>
          <a:prstGeom prst="roundRect">
            <a:avLst>
              <a:gd name="adj" fmla="val 11568"/>
            </a:avLst>
          </a:prstGeom>
          <a:solidFill>
            <a:srgbClr val="191718">
              <a:alpha val="95000"/>
            </a:srgbClr>
          </a:solidFill>
          <a:ln w="25399">
            <a:solidFill>
              <a:srgbClr val="9220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9343" y="3784402"/>
            <a:ext cx="4786490" cy="2914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E5E0D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Cikk oldal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200719" y="3549253"/>
            <a:ext cx="5256776" cy="761702"/>
          </a:xfrm>
          <a:prstGeom prst="roundRect">
            <a:avLst>
              <a:gd name="adj" fmla="val 11568"/>
            </a:avLst>
          </a:prstGeom>
          <a:solidFill>
            <a:srgbClr val="191718">
              <a:alpha val="95000"/>
            </a:srgbClr>
          </a:solidFill>
          <a:ln w="25399">
            <a:solidFill>
              <a:srgbClr val="92202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35862" y="3784402"/>
            <a:ext cx="4786490" cy="2914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E5E0D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Profilok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734200" y="4520704"/>
            <a:ext cx="5256776" cy="761702"/>
          </a:xfrm>
          <a:prstGeom prst="roundRect">
            <a:avLst>
              <a:gd name="adj" fmla="val 11568"/>
            </a:avLst>
          </a:prstGeom>
          <a:solidFill>
            <a:srgbClr val="191718">
              <a:alpha val="95000"/>
            </a:srgbClr>
          </a:solidFill>
          <a:ln w="25399">
            <a:solidFill>
              <a:srgbClr val="92202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9343" y="4755852"/>
            <a:ext cx="4786490" cy="2914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E5E0D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Admin felület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200719" y="4520704"/>
            <a:ext cx="5256776" cy="761702"/>
          </a:xfrm>
          <a:prstGeom prst="roundRect">
            <a:avLst>
              <a:gd name="adj" fmla="val 11568"/>
            </a:avLst>
          </a:prstGeom>
          <a:solidFill>
            <a:srgbClr val="191718">
              <a:alpha val="95000"/>
            </a:srgbClr>
          </a:solidFill>
          <a:ln w="25399">
            <a:solidFill>
              <a:srgbClr val="92202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35862" y="4755852"/>
            <a:ext cx="4786490" cy="2914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E5E0D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Impresszum &amp; Támogatás</a:t>
            </a:r>
            <a:endParaRPr lang="en-US" sz="1800" dirty="0"/>
          </a:p>
        </p:txBody>
      </p:sp>
      <p:pic>
        <p:nvPicPr>
          <p:cNvPr id="15" name="Kép 14">
            <a:extLst>
              <a:ext uri="{FF2B5EF4-FFF2-40B4-BE49-F238E27FC236}">
                <a16:creationId xmlns:a16="http://schemas.microsoft.com/office/drawing/2014/main" id="{FDF54DE7-2084-44A6-A26F-8E701A8A4B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87795" y="318613"/>
            <a:ext cx="765877" cy="765877"/>
          </a:xfrm>
          <a:prstGeom prst="rect">
            <a:avLst/>
          </a:prstGeom>
        </p:spPr>
      </p:pic>
      <p:pic>
        <p:nvPicPr>
          <p:cNvPr id="16" name="Kép 15">
            <a:extLst>
              <a:ext uri="{FF2B5EF4-FFF2-40B4-BE49-F238E27FC236}">
                <a16:creationId xmlns:a16="http://schemas.microsoft.com/office/drawing/2014/main" id="{9C612B9A-25E6-4B8B-BFD4-284FADFED0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9581" y="6343578"/>
            <a:ext cx="1514686" cy="51442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4200" y="2389242"/>
            <a:ext cx="10723294" cy="582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dirty="0">
                <a:solidFill>
                  <a:srgbClr val="FFFFF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Adatbázis</a:t>
            </a:r>
            <a:endParaRPr lang="en-US" sz="3650" dirty="0"/>
          </a:p>
        </p:txBody>
      </p:sp>
      <p:sp>
        <p:nvSpPr>
          <p:cNvPr id="3" name="Text 1"/>
          <p:cNvSpPr/>
          <p:nvPr/>
        </p:nvSpPr>
        <p:spPr>
          <a:xfrm>
            <a:off x="734200" y="3353098"/>
            <a:ext cx="10723294" cy="1154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35280" indent="-335280" algn="l">
              <a:lnSpc>
                <a:spcPct val="133000"/>
              </a:lnSpc>
              <a:buSzPct val="100000"/>
              <a:buChar char="•"/>
            </a:pPr>
            <a:r>
              <a:rPr lang="en-US" sz="1650" dirty="0">
                <a:solidFill>
                  <a:srgbClr val="E5E0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Felhasználók, szerzők, cikkek</a:t>
            </a:r>
            <a:endParaRPr lang="en-US" sz="1650" dirty="0"/>
          </a:p>
          <a:p>
            <a:pPr marL="335280" indent="-335280" algn="l">
              <a:lnSpc>
                <a:spcPct val="133000"/>
              </a:lnSpc>
              <a:buSzPct val="100000"/>
              <a:buChar char="•"/>
            </a:pPr>
            <a:r>
              <a:rPr lang="en-US" sz="1650" dirty="0">
                <a:solidFill>
                  <a:srgbClr val="E5E0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Kategóriák, könyvjelzők, követések</a:t>
            </a:r>
            <a:endParaRPr lang="en-US" sz="1650" dirty="0"/>
          </a:p>
          <a:p>
            <a:pPr marL="335280" indent="-335280" algn="l">
              <a:lnSpc>
                <a:spcPct val="133000"/>
              </a:lnSpc>
              <a:buSzPct val="100000"/>
              <a:buChar char="•"/>
            </a:pPr>
            <a:r>
              <a:rPr lang="en-US" sz="1650" dirty="0">
                <a:solidFill>
                  <a:srgbClr val="E5E0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Programok és események</a:t>
            </a:r>
            <a:endParaRPr lang="en-US" sz="1650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7373CF67-137C-466A-A34A-9206877506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77314" y="6343578"/>
            <a:ext cx="1514686" cy="514422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FF4C8012-4ACA-4EA6-9528-19AC0154E1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87795" y="318613"/>
            <a:ext cx="765877" cy="76587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4200" y="2199436"/>
            <a:ext cx="10723294" cy="582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dirty="0">
                <a:solidFill>
                  <a:srgbClr val="FFFFF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Jelenlegi állapot</a:t>
            </a:r>
            <a:endParaRPr lang="en-US" sz="3650" dirty="0"/>
          </a:p>
        </p:txBody>
      </p:sp>
      <p:sp>
        <p:nvSpPr>
          <p:cNvPr id="3" name="Shape 1"/>
          <p:cNvSpPr/>
          <p:nvPr/>
        </p:nvSpPr>
        <p:spPr>
          <a:xfrm>
            <a:off x="734200" y="3163292"/>
            <a:ext cx="10723294" cy="1533624"/>
          </a:xfrm>
          <a:prstGeom prst="roundRect">
            <a:avLst>
              <a:gd name="adj" fmla="val 5746"/>
            </a:avLst>
          </a:prstGeom>
          <a:solidFill>
            <a:srgbClr val="790709"/>
          </a:solidFill>
          <a:ln w="12700">
            <a:solidFill>
              <a:srgbClr val="9220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6900" y="3175992"/>
            <a:ext cx="5348947" cy="1508224"/>
          </a:xfrm>
          <a:custGeom>
            <a:avLst/>
            <a:gdLst/>
            <a:ahLst/>
            <a:cxnLst/>
            <a:rect l="l" t="t" r="r" b="b"/>
            <a:pathLst>
              <a:path w="5348947" h="1508224">
                <a:moveTo>
                  <a:pt x="73430" y="0"/>
                </a:moveTo>
                <a:lnTo>
                  <a:pt x="5348947" y="0"/>
                </a:lnTo>
                <a:lnTo>
                  <a:pt x="5348947" y="1508224"/>
                </a:lnTo>
                <a:lnTo>
                  <a:pt x="73430" y="1508224"/>
                </a:lnTo>
                <a:arcTo wR="73430" hR="73432" stAng="5400000" swAng="5400000"/>
                <a:lnTo>
                  <a:pt x="0" y="73432"/>
                </a:lnTo>
                <a:arcTo wR="73430" hR="73432" stAng="10800000" swAng="5400000"/>
                <a:close/>
              </a:path>
            </a:pathLst>
          </a:custGeom>
          <a:solidFill>
            <a:srgbClr val="790709"/>
          </a:solidFill>
          <a:ln/>
        </p:spPr>
      </p:sp>
      <p:sp>
        <p:nvSpPr>
          <p:cNvPr id="5" name="Text 3"/>
          <p:cNvSpPr/>
          <p:nvPr/>
        </p:nvSpPr>
        <p:spPr>
          <a:xfrm>
            <a:off x="956643" y="3385741"/>
            <a:ext cx="4929461" cy="2914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E5E0D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Kész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56643" y="3802955"/>
            <a:ext cx="4929461" cy="6715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50" dirty="0">
                <a:solidFill>
                  <a:srgbClr val="E5E0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Funkcionális specifikáció, oldalstruktúra, UI-koncepció, adatbázis-terv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095848" y="3175992"/>
            <a:ext cx="5348947" cy="1508224"/>
          </a:xfrm>
          <a:custGeom>
            <a:avLst/>
            <a:gdLst/>
            <a:ahLst/>
            <a:cxnLst/>
            <a:rect l="l" t="t" r="r" b="b"/>
            <a:pathLst>
              <a:path w="5348947" h="1508224">
                <a:moveTo>
                  <a:pt x="0" y="0"/>
                </a:moveTo>
                <a:lnTo>
                  <a:pt x="5275517" y="0"/>
                </a:lnTo>
                <a:arcTo wR="73430" hR="73432" stAng="16200000" swAng="5400000"/>
                <a:lnTo>
                  <a:pt x="5348947" y="1434792"/>
                </a:lnTo>
                <a:arcTo wR="73430" hR="73432" stAng="0" swAng="5400000"/>
                <a:lnTo>
                  <a:pt x="0" y="1508224"/>
                </a:lnTo>
                <a:lnTo>
                  <a:pt x="0" y="0"/>
                </a:lnTo>
                <a:close/>
              </a:path>
            </a:pathLst>
          </a:custGeom>
          <a:solidFill>
            <a:srgbClr val="790709"/>
          </a:solidFill>
          <a:ln/>
        </p:spPr>
      </p:sp>
      <p:sp>
        <p:nvSpPr>
          <p:cNvPr id="8" name="Shape 6"/>
          <p:cNvSpPr/>
          <p:nvPr/>
        </p:nvSpPr>
        <p:spPr>
          <a:xfrm>
            <a:off x="6095848" y="3175992"/>
            <a:ext cx="25399" cy="1508224"/>
          </a:xfrm>
          <a:prstGeom prst="roundRect">
            <a:avLst>
              <a:gd name="adj" fmla="val 50001"/>
            </a:avLst>
          </a:prstGeom>
          <a:solidFill>
            <a:srgbClr val="922022"/>
          </a:solidFill>
          <a:ln/>
        </p:spPr>
      </p:sp>
      <p:sp>
        <p:nvSpPr>
          <p:cNvPr id="9" name="Text 7"/>
          <p:cNvSpPr/>
          <p:nvPr/>
        </p:nvSpPr>
        <p:spPr>
          <a:xfrm>
            <a:off x="6305591" y="3385741"/>
            <a:ext cx="4929461" cy="2914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E5E0D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Következő lépés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305591" y="3802955"/>
            <a:ext cx="4929461" cy="3357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50" dirty="0">
                <a:solidFill>
                  <a:srgbClr val="E5E0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Frontend és backend fejlesztés</a:t>
            </a:r>
            <a:endParaRPr lang="en-US" sz="1650" dirty="0"/>
          </a:p>
        </p:txBody>
      </p:sp>
      <p:pic>
        <p:nvPicPr>
          <p:cNvPr id="12" name="Kép 11">
            <a:extLst>
              <a:ext uri="{FF2B5EF4-FFF2-40B4-BE49-F238E27FC236}">
                <a16:creationId xmlns:a16="http://schemas.microsoft.com/office/drawing/2014/main" id="{E1FF8D58-EAF1-48C5-94BE-6DFD86E2E2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4828" y="6343578"/>
            <a:ext cx="1514686" cy="514422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AC802F5E-8603-4F51-9098-0C6F8298E4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87795" y="318613"/>
            <a:ext cx="765877" cy="76587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4200" y="1547470"/>
            <a:ext cx="10723294" cy="582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dirty="0">
                <a:solidFill>
                  <a:srgbClr val="FFFFF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Fejlesztési ütemterv</a:t>
            </a:r>
            <a:endParaRPr lang="en-US" sz="36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200" y="2511326"/>
            <a:ext cx="10723294" cy="283755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61300" y="3470759"/>
            <a:ext cx="1620949" cy="2579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Oldalak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1561300" y="3811307"/>
            <a:ext cx="1620949" cy="4643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Weboldalak elkészítése</a:t>
            </a:r>
            <a:endParaRPr lang="en-US" sz="1450" dirty="0"/>
          </a:p>
        </p:txBody>
      </p:sp>
      <p:sp>
        <p:nvSpPr>
          <p:cNvPr id="6" name="Text 3"/>
          <p:cNvSpPr/>
          <p:nvPr/>
        </p:nvSpPr>
        <p:spPr>
          <a:xfrm>
            <a:off x="3418788" y="3584275"/>
            <a:ext cx="1620949" cy="2579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Adatbázis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3418788" y="3924823"/>
            <a:ext cx="1620949" cy="4643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Szerkezet és táblák kialakítása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5276277" y="3470759"/>
            <a:ext cx="1620950" cy="5159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Felhasználói rendszer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276277" y="4069299"/>
            <a:ext cx="1620950" cy="4643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Regisztráció és jogosultságok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133766" y="3584275"/>
            <a:ext cx="1620949" cy="2579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Cikkkezelés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7133766" y="3924823"/>
            <a:ext cx="1620949" cy="4643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funkciók és szerkesztés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9001574" y="3470759"/>
            <a:ext cx="1620949" cy="2579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Tesztelés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9001574" y="3811307"/>
            <a:ext cx="1620949" cy="4643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Hibajavítás és végellenőrzés</a:t>
            </a:r>
            <a:endParaRPr lang="en-US" sz="1450" dirty="0"/>
          </a:p>
        </p:txBody>
      </p:sp>
      <p:pic>
        <p:nvPicPr>
          <p:cNvPr id="15" name="Kép 14">
            <a:extLst>
              <a:ext uri="{FF2B5EF4-FFF2-40B4-BE49-F238E27FC236}">
                <a16:creationId xmlns:a16="http://schemas.microsoft.com/office/drawing/2014/main" id="{B8726E8D-0BB4-414E-9222-EAA5F407E2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77314" y="6343578"/>
            <a:ext cx="1514686" cy="514422"/>
          </a:xfrm>
          <a:prstGeom prst="rect">
            <a:avLst/>
          </a:prstGeom>
        </p:spPr>
      </p:pic>
      <p:pic>
        <p:nvPicPr>
          <p:cNvPr id="16" name="Kép 15">
            <a:extLst>
              <a:ext uri="{FF2B5EF4-FFF2-40B4-BE49-F238E27FC236}">
                <a16:creationId xmlns:a16="http://schemas.microsoft.com/office/drawing/2014/main" id="{B6ABCC13-B72D-453B-A40C-0BDC757D0E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87795" y="318613"/>
            <a:ext cx="765877" cy="76587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4200" y="3206406"/>
            <a:ext cx="10723294" cy="8042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5050" dirty="0">
                <a:solidFill>
                  <a:srgbClr val="FFFFF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Köszönjük a figyelmet!</a:t>
            </a:r>
            <a:endParaRPr lang="en-US" sz="5050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7D03FAF2-CC95-419E-B394-E29D539B7F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77314" y="6318178"/>
            <a:ext cx="1514686" cy="514422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5951915B-70A0-4F8C-B1F8-6C280717C9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87795" y="318613"/>
            <a:ext cx="765877" cy="76587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183</Words>
  <Application>Microsoft Office PowerPoint</Application>
  <PresentationFormat>Szélesvásznú</PresentationFormat>
  <Paragraphs>73</Paragraphs>
  <Slides>10</Slides>
  <Notes>10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10</vt:i4>
      </vt:variant>
    </vt:vector>
  </HeadingPairs>
  <TitlesOfParts>
    <vt:vector size="16" baseType="lpstr">
      <vt:lpstr>Barlow Medium</vt:lpstr>
      <vt:lpstr>Barlow Bold</vt:lpstr>
      <vt:lpstr>Arial</vt:lpstr>
      <vt:lpstr>Barlow</vt:lpstr>
      <vt:lpstr>Calibri</vt:lpstr>
      <vt:lpstr>Office Theme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subject/>
  <dc:creator/>
  <cp:lastModifiedBy>Fábián Zoltán</cp:lastModifiedBy>
  <cp:revision>3</cp:revision>
  <dcterms:created xsi:type="dcterms:W3CDTF">2026-10-13T11:04:16Z</dcterms:created>
  <dcterms:modified xsi:type="dcterms:W3CDTF">2026-10-13T11:16:41Z</dcterms:modified>
</cp:coreProperties>
</file>