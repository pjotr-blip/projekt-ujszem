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egoe UI Semibold" panose="020B0702040204020203" pitchFamily="34" charset="0"/>
      <p:bold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629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274954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Új Szem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3546607"/>
            <a:ext cx="10723294" cy="907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Hírportál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Mihályi Márton, Fábián Zoltán, Erdélyi Zsolt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784C835-84D6-4030-9B5D-9501E1B28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391" y="6343578"/>
            <a:ext cx="1514686" cy="51442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C71FE45-6223-4C16-BC52-C62E38A45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103393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A projekt célja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3067248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Modern online felület társadalmi, kulturális és kritikai írások publikálásához és olvasásához.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4200" y="3638946"/>
            <a:ext cx="10723294" cy="206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Böngészés kategóriák szerint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Szerzők követése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Cikkek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könyvjelzőzése</a:t>
            </a:r>
            <a:endParaRPr lang="hu-HU" sz="1650" dirty="0">
              <a:solidFill>
                <a:srgbClr val="E5E0DF"/>
              </a:solidFill>
              <a:latin typeface="Segoe UI Semibold" panose="020B0702040204020203" pitchFamily="34" charset="0"/>
              <a:ea typeface="Barlow" pitchFamily="34" charset="-122"/>
              <a:cs typeface="Barlow" pitchFamily="34" charset="-12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Modern működésorientált dizájn</a:t>
            </a:r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endParaRPr lang="hu-HU" sz="1650" dirty="0">
              <a:solidFill>
                <a:srgbClr val="E5E0DF"/>
              </a:solidFill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FCDA7D5-CBE9-4136-8A0E-4E26CEBE7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43578"/>
            <a:ext cx="1514686" cy="51442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9CA618E-8F2A-4A4B-BC4E-43D381794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03155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Célközönség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4200" y="2995414"/>
            <a:ext cx="3434570" cy="1869380"/>
          </a:xfrm>
          <a:prstGeom prst="roundRect">
            <a:avLst>
              <a:gd name="adj" fmla="val 4714"/>
            </a:avLst>
          </a:prstGeom>
          <a:solidFill>
            <a:srgbClr val="790709"/>
          </a:solidFill>
          <a:ln w="12700">
            <a:solidFill>
              <a:srgbClr val="9220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6643" y="3217863"/>
            <a:ext cx="298968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Olvasók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6643" y="3635077"/>
            <a:ext cx="2989684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Kultúra, film, filozófia és társadalomelméleti témák iránt érdeklődők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32432" y="2995414"/>
            <a:ext cx="3434570" cy="1869380"/>
          </a:xfrm>
          <a:prstGeom prst="roundRect">
            <a:avLst>
              <a:gd name="adj" fmla="val 4714"/>
            </a:avLst>
          </a:prstGeom>
          <a:solidFill>
            <a:srgbClr val="790709"/>
          </a:solidFill>
          <a:ln w="12700">
            <a:solidFill>
              <a:srgbClr val="9220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54875" y="3279331"/>
            <a:ext cx="298968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dirty="0">
                <a:solidFill>
                  <a:srgbClr val="E5E0DF"/>
                </a:solidFill>
                <a:latin typeface="Segoe UI Semibold" panose="020B0702040204020203" pitchFamily="34" charset="0"/>
              </a:rPr>
              <a:t>Szerzők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54875" y="3696545"/>
            <a:ext cx="298968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Publikációs lehetőséget kereső alkotók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E87F49C5-58F2-4F50-A3B6-7C6D1DC2D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43578"/>
            <a:ext cx="1514686" cy="514422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D951B0D4-FCBB-4654-9FC5-3881E6DAF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-0.22969 -4.81481E-6 C -0.33268 -4.81481E-6 -0.45924 0.13172 -0.45924 0.23866 L -0.45924 0.47755 " pathEditMode="relative" rAng="0" ptsTypes="AAAA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69" y="2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64424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Fő funkciók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2428280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4200" y="2759373"/>
            <a:ext cx="3434570" cy="2540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5" name="Text 3"/>
          <p:cNvSpPr/>
          <p:nvPr/>
        </p:nvSpPr>
        <p:spPr>
          <a:xfrm>
            <a:off x="734200" y="2915047"/>
            <a:ext cx="343457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Főoldal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4200" y="3281427"/>
            <a:ext cx="3434570" cy="633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Legújabb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publikációk</a:t>
            </a:r>
            <a:endParaRPr lang="hu-HU" sz="1650" dirty="0">
              <a:solidFill>
                <a:srgbClr val="E5E0DF"/>
              </a:solidFill>
              <a:latin typeface="Segoe UI Semibold" panose="020B0702040204020203" pitchFamily="34" charset="0"/>
              <a:ea typeface="Barlow" pitchFamily="34" charset="-122"/>
              <a:cs typeface="Barlow" pitchFamily="34" charset="-120"/>
            </a:endParaRPr>
          </a:p>
          <a:p>
            <a:pPr>
              <a:lnSpc>
                <a:spcPct val="133000"/>
              </a:lnSpc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Alapvető menüpontok</a:t>
            </a:r>
            <a:endParaRPr lang="en-US" sz="1650" dirty="0">
              <a:solidFill>
                <a:srgbClr val="E5E0DF"/>
              </a:solidFill>
              <a:latin typeface="Segoe UI Semibold" panose="020B0702040204020203" pitchFamily="34" charset="0"/>
              <a:ea typeface="Barlow" pitchFamily="34" charset="-122"/>
              <a:cs typeface="Barlow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78513" y="2428280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78513" y="2759373"/>
            <a:ext cx="3434570" cy="2540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9" name="Text 7"/>
          <p:cNvSpPr/>
          <p:nvPr/>
        </p:nvSpPr>
        <p:spPr>
          <a:xfrm>
            <a:off x="4378513" y="2915047"/>
            <a:ext cx="343457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Böngészés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78513" y="3332262"/>
            <a:ext cx="343457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Kategória alapú navigáció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22826" y="2428280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22826" y="2759373"/>
            <a:ext cx="3434669" cy="2540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22826" y="2915047"/>
            <a:ext cx="343466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Profilok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22826" y="3332262"/>
            <a:ext cx="343466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Szerzői és felhasználói oldalak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4200" y="4035028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4200" y="4366121"/>
            <a:ext cx="5256776" cy="2540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7" name="Text 15"/>
          <p:cNvSpPr/>
          <p:nvPr/>
        </p:nvSpPr>
        <p:spPr>
          <a:xfrm>
            <a:off x="734200" y="4521795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Könyvjelzők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4200" y="4939010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Mentés és szerzőkövetés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00719" y="4035028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0719" y="4366121"/>
            <a:ext cx="5256776" cy="25400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21" name="Text 19"/>
          <p:cNvSpPr/>
          <p:nvPr/>
        </p:nvSpPr>
        <p:spPr>
          <a:xfrm>
            <a:off x="6200719" y="4521795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Admin</a:t>
            </a:r>
            <a:r>
              <a:rPr lang="hu-HU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 (Szerkesztők)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00719" y="4939010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Cikkfeltöltés és tartalomkezelés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26" name="Kép 25">
            <a:extLst>
              <a:ext uri="{FF2B5EF4-FFF2-40B4-BE49-F238E27FC236}">
                <a16:creationId xmlns:a16="http://schemas.microsoft.com/office/drawing/2014/main" id="{C73F3452-9C55-4A1F-BD53-440371F9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43578"/>
            <a:ext cx="1514686" cy="514422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443DE5EE-F2B3-45AD-A0C8-46F6094B9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" tmFilter="0, 0; 0.125,0.2665; 0.25,0.4; 0.375,0.465; 0.5,0.5;  0.625,0.535; 0.75,0.6; 0.875,0.7335; 1,1">
                                          <p:stCondLst>
                                            <p:cond delay="6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" tmFilter="0, 0; 0.125,0.2665; 0.25,0.4; 0.375,0.465; 0.5,0.5;  0.625,0.535; 0.75,0.6; 0.875,0.7335; 1,1">
                                          <p:stCondLst>
                                            <p:cond delay="13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">
                                          <p:stCondLst>
                                            <p:cond delay="6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7" decel="50000">
                                          <p:stCondLst>
                                            <p:cond delay="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">
                                          <p:stCondLst>
                                            <p:cond delay="13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7" decel="50000">
                                          <p:stCondLst>
                                            <p:cond delay="1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7" decel="50000">
                                          <p:stCondLst>
                                            <p:cond delay="167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">
                                          <p:stCondLst>
                                            <p:cond delay="18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7" decel="50000">
                                          <p:stCondLst>
                                            <p:cond delay="183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"/>
                            </p:stCondLst>
                            <p:childTnLst>
                              <p:par>
                                <p:cTn id="2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389242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Felhasználói szerepkörök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3353098"/>
            <a:ext cx="10723294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b="1" dirty="0">
                <a:solidFill>
                  <a:srgbClr val="E5E0DF"/>
                </a:solidFill>
                <a:latin typeface="Segoe UI Semibold" panose="020B0702040204020203" pitchFamily="34" charset="0"/>
                <a:ea typeface="Barlow Bold" pitchFamily="34" charset="-122"/>
                <a:cs typeface="Barlow Bold" pitchFamily="34" charset="-120"/>
              </a:rPr>
              <a:t>Olvasók: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cikkek böngészése és mentése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b="1" dirty="0">
                <a:solidFill>
                  <a:srgbClr val="E5E0DF"/>
                </a:solidFill>
                <a:latin typeface="Segoe UI Semibold" panose="020B0702040204020203" pitchFamily="34" charset="0"/>
                <a:ea typeface="Barlow Bold" pitchFamily="34" charset="-122"/>
                <a:cs typeface="Barlow Bold" pitchFamily="34" charset="-120"/>
              </a:rPr>
              <a:t>Szerkesztők: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saját cikkek publikálása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b="1" dirty="0">
                <a:solidFill>
                  <a:srgbClr val="E5E0DF"/>
                </a:solidFill>
                <a:latin typeface="Segoe UI Semibold" panose="020B0702040204020203" pitchFamily="34" charset="0"/>
                <a:ea typeface="Barlow Bold" pitchFamily="34" charset="-122"/>
                <a:cs typeface="Barlow Bold" pitchFamily="34" charset="-120"/>
              </a:rPr>
              <a:t>Adminisztrátorok: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felhasználók, kategóriák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és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tartal</a:t>
            </a:r>
            <a:r>
              <a:rPr lang="hu-HU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mak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kezelése</a:t>
            </a: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, az oldal karbantartása.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774E6B0-B6B4-4E2F-9E4F-AC29072A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581" y="6343578"/>
            <a:ext cx="1514686" cy="51442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F80FB3D-6313-4A8D-A54A-FCF1D36EC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55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3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13947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Oldalstruktúra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4200" y="2577802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9343" y="2812951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Főoldal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00719" y="2577802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35862" y="2812951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Kategóriaoldalak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4200" y="3549253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343" y="3784402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Cikk oldal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00719" y="3549253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5862" y="3784402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Profilok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4200" y="4520704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343" y="4755852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Admin felület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0719" y="4520704"/>
            <a:ext cx="5256776" cy="761702"/>
          </a:xfrm>
          <a:prstGeom prst="roundRect">
            <a:avLst>
              <a:gd name="adj" fmla="val 11568"/>
            </a:avLst>
          </a:prstGeom>
          <a:solidFill>
            <a:srgbClr val="191718">
              <a:alpha val="95000"/>
            </a:srgbClr>
          </a:solidFill>
          <a:ln w="25399">
            <a:solidFill>
              <a:srgbClr val="9220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5862" y="4755852"/>
            <a:ext cx="47864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Impresszum &amp; Támogatás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9C612B9A-25E6-4B8B-BFD4-284FADFE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9581" y="6343578"/>
            <a:ext cx="1514686" cy="514422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FDF54DE7-2084-44A6-A26F-8E701A8A4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81481E-6 L 0.12982 0.007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82 0.00764 L 0.12474 0.97223 " pathEditMode="relative" rAng="0" ptsTypes="AA">
                                      <p:cBhvr>
                                        <p:cTn id="9" dur="1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4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00"/>
                            </p:stCondLst>
                            <p:childTnLst>
                              <p:par>
                                <p:cTn id="11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74 0.97223 L 0.01758 0.83936 C -0.00469 0.8095 -0.03828 0.79352 -0.07344 0.79352 C -0.1138 0.79352 -0.14531 0.8095 -0.16758 0.83936 L -0.27578 0.97223 " pathEditMode="relative" rAng="0" ptsTypes="AAAAA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26" y="-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1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909 1.03172 L -0.29765 0.8226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10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10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765 0.82269 L -0.97187 0.8226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389242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Adatbázis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200" y="3353098"/>
            <a:ext cx="4983019" cy="249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Felhasználók, szerzők, cikkek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Kategóriák, könyvjelzők, követések</a:t>
            </a:r>
            <a:endParaRPr lang="en-US" sz="1650" dirty="0"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Programok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és</a:t>
            </a: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650" dirty="0" err="1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események</a:t>
            </a:r>
            <a:endParaRPr lang="hu-HU" sz="1650" dirty="0">
              <a:solidFill>
                <a:srgbClr val="E5E0DF"/>
              </a:solidFill>
              <a:latin typeface="Segoe UI Semibold" panose="020B0702040204020203" pitchFamily="34" charset="0"/>
              <a:ea typeface="Barlow" pitchFamily="34" charset="-122"/>
              <a:cs typeface="Barlow" pitchFamily="34" charset="-12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endParaRPr lang="hu-HU" sz="1650" dirty="0">
              <a:solidFill>
                <a:srgbClr val="E5E0DF"/>
              </a:solidFill>
              <a:latin typeface="Segoe UI Semibold" panose="020B0702040204020203" pitchFamily="34" charset="0"/>
            </a:endParaRP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Egyelőre ideiglenes a nagy része</a:t>
            </a: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Struktúra megvan</a:t>
            </a:r>
          </a:p>
          <a:p>
            <a:pPr marL="335280" indent="-335280" algn="l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Adatok gyűjtése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373CF67-137C-466A-A34A-920687750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43578"/>
            <a:ext cx="1514686" cy="51442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F4C8012-4ACA-4EA6-9528-19AC0154E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0.00116 L 0.00235 0.00116 C -0.00312 0.0007 -0.00846 0.00047 -0.0138 -0.00023 C -0.01719 -0.00069 -0.02461 -0.00439 -0.02682 -0.00532 C -0.02982 -0.00671 -0.03268 -0.0081 -0.03554 -0.00925 C -0.03776 -0.01018 -0.03997 -0.01087 -0.04219 -0.0118 C -0.04479 -0.01296 -0.04739 -0.01481 -0.05013 -0.01574 C -0.05429 -0.01736 -0.05846 -0.01828 -0.0625 -0.01967 C -0.07708 -0.02916 -0.06445 -0.02199 -0.0763 -0.02615 C -0.07956 -0.02708 -0.08255 -0.02939 -0.08581 -0.03009 C -0.10351 -0.03379 -0.11549 -0.03472 -0.13164 -0.03634 C -0.14622 -0.03611 -0.16081 -0.03611 -0.17539 -0.03518 C -0.17929 -0.03495 -0.1832 -0.03333 -0.18698 -0.03263 L -0.20013 -0.03009 C -0.20794 -0.02824 -0.21575 -0.02708 -0.22344 -0.02476 C -0.23554 -0.02152 -0.2457 -0.01759 -0.2569 -0.00925 C -0.2612 -0.00601 -0.26888 0.00209 -0.27291 0.00764 C -0.28698 0.02593 -0.28698 0.02709 -0.30065 0.04908 C -0.30299 0.05278 -0.31614 0.07362 -0.31732 0.07616 C -0.33789 0.11713 -0.31054 0.06181 -0.3276 0.09815 C -0.32969 0.10255 -0.33229 0.10649 -0.33411 0.11112 C -0.33594 0.11551 -0.33685 0.12084 -0.33854 0.12524 C -0.35013 0.15741 -0.34349 0.13704 -0.35456 0.16297 C -0.35833 0.17176 -0.36185 0.18102 -0.36549 0.19005 C -0.36719 0.19445 -0.36901 0.19838 -0.37057 0.20301 C -0.372 0.20741 -0.37317 0.21181 -0.37487 0.21598 C -0.3832 0.23612 -0.38958 0.24445 -0.39674 0.26783 C -0.39987 0.27801 -0.40299 0.28843 -0.40625 0.29885 C -0.4069 0.30093 -0.40794 0.30278 -0.40846 0.30533 C -0.40859 0.30649 -0.40885 0.30788 -0.40911 0.30926 C -0.41028 0.31436 -0.41172 0.31945 -0.41276 0.32477 C -0.4164 0.34375 -0.41367 0.32871 -0.4164 0.34676 C -0.41849 0.36042 -0.41745 0.3507 -0.41862 0.36343 C -0.41888 0.37223 -0.41914 0.38079 -0.41927 0.38936 C -0.41966 0.40116 -0.41966 0.41274 -0.42005 0.42431 C -0.42044 0.43635 -0.42018 0.43403 -0.42148 0.44121 C -0.42174 0.44468 -0.42187 0.44815 -0.42226 0.45163 C -0.42278 0.45649 -0.42487 0.46413 -0.42591 0.46829 C -0.42773 0.49445 -0.42604 0.46829 -0.42734 0.52153 C -0.42747 0.52755 -0.42786 0.53357 -0.42799 0.53959 C -0.42786 0.55417 -0.42799 0.56899 -0.42734 0.58357 C -0.42669 0.59584 -0.42018 0.62107 -0.41862 0.62894 C -0.41758 0.63357 -0.41679 0.63843 -0.41562 0.64306 C -0.41419 0.64931 -0.41237 0.65533 -0.41054 0.66135 C -0.40664 0.67477 -0.40182 0.6882 -0.39674 0.7 C -0.39453 0.70533 -0.39245 0.71065 -0.39023 0.71551 C -0.38737 0.72176 -0.38424 0.72755 -0.38151 0.7338 C -0.37969 0.7375 -0.37812 0.74167 -0.3763 0.74538 C -0.37344 0.75163 -0.36875 0.76088 -0.36549 0.76598 C -0.36341 0.76945 -0.3612 0.77246 -0.35885 0.77524 C -0.35247 0.78241 -0.34505 0.78565 -0.33776 0.78936 C -0.33489 0.79098 -0.3319 0.79167 -0.32903 0.79329 C -0.3125 0.80209 -0.31836 0.80163 -0.29987 0.80741 C -0.29583 0.8088 -0.29166 0.80903 -0.2875 0.81019 C -0.28268 0.81135 -0.27786 0.81297 -0.27291 0.81389 C -0.26354 0.81598 -0.24036 0.81644 -0.23581 0.81667 C -0.23086 0.8176 -0.21706 0.82084 -0.21185 0.82038 C -0.20013 0.81945 -0.18854 0.8169 -0.17682 0.81528 C -0.17096 0.81204 -0.16341 0.80834 -0.15794 0.80371 C -0.14752 0.79468 -0.14297 0.78635 -0.13242 0.77524 C -0.12995 0.77246 -0.12747 0.77038 -0.12513 0.76737 C -0.11172 0.7507 -0.12383 0.76389 -0.11133 0.74538 C -0.10781 0.74028 -0.1039 0.73635 -0.10039 0.73102 C -0.09492 0.72292 -0.08971 0.71389 -0.08437 0.70533 C -0.08073 0.69954 -0.07643 0.69514 -0.07344 0.68843 C -0.06393 0.66621 -0.06054 0.65996 -0.05312 0.63658 C -0.05 0.62686 -0.04427 0.60695 -0.04427 0.60695 C -0.04388 0.60255 -0.04323 0.59838 -0.04284 0.59399 C -0.04075 0.56945 -0.04466 0.57987 -0.03698 0.53959 C -0.03581 0.53311 -0.03476 0.52663 -0.03346 0.52014 C -0.03203 0.51389 -0.03021 0.50834 -0.02903 0.50209 C -0.02617 0.48658 -0.0263 0.4794 -0.02461 0.46459 C -0.02396 0.45834 -0.02317 0.45232 -0.02252 0.4463 C -0.022 0.43635 -0.02122 0.42107 -0.02096 0.41135 C -0.0207 0.39676 -0.0207 0.38195 -0.02031 0.36737 C -0.02018 0.36528 -0.01979 0.3632 -0.01953 0.36088 C -0.01927 0.35741 -0.01914 0.35394 -0.01888 0.35047 C -0.01849 0.347 -0.01784 0.34375 -0.01732 0.34028 C -0.01706 0.33797 -0.01692 0.33588 -0.01666 0.3338 C -0.01653 0.33288 -0.01601 0.32431 -0.01523 0.322 C -0.01458 0.32061 -0.01302 0.31829 -0.01302 0.31829 L -0.01302 0.31829 C -0.01328 0.30394 -0.01328 0.28982 -0.0138 0.27547 C -0.01419 0.2595 -0.01471 0.24352 -0.01588 0.22755 C -0.01614 0.22454 -0.01614 0.22153 -0.01666 0.21852 C -0.01862 0.20811 -0.0181 0.21528 -0.02031 0.2095 C -0.02083 0.20788 -0.02122 0.20602 -0.02174 0.2044 C -0.02304 0.20024 -0.02539 0.19352 -0.02682 0.19005 C -0.02969 0.18311 -0.0332 0.17686 -0.03554 0.16945 C -0.03685 0.16551 -0.03776 0.16135 -0.03919 0.15764 C -0.0444 0.14468 -0.05221 0.12917 -0.05885 0.11899 C -0.06224 0.11366 -0.06549 0.10811 -0.06914 0.10325 C -0.07409 0.09653 -0.0789 0.08936 -0.08437 0.08403 C -0.08984 0.07848 -0.09583 0.07454 -0.10182 0.07107 C -0.11133 0.06551 -0.12122 0.06482 -0.13099 0.0632 C -0.14557 0.06505 -0.16015 0.06551 -0.17461 0.06829 C -0.19388 0.07223 -0.22969 0.10186 -0.23945 0.10857 C -0.24622 0.11297 -0.25364 0.11505 -0.25989 0.12153 C -0.28424 0.14653 -0.28893 0.14792 -0.30859 0.17848 C -0.31901 0.19445 -0.32539 0.21922 -0.3319 0.23936 C -0.33724 0.25556 -0.34245 0.27223 -0.34791 0.28843 C -0.35182 0.3 -0.35742 0.30973 -0.36028 0.322 C -0.37174 0.36945 -0.36692 0.34584 -0.37487 0.39329 C -0.37604 0.41042 -0.37942 0.45602 -0.37929 0.47477 C -0.37916 0.48658 -0.37838 0.49838 -0.37708 0.50973 C -0.37578 0.5213 -0.37396 0.53264 -0.37122 0.54352 C -0.36575 0.56551 -0.35716 0.59607 -0.34726 0.61598 C -0.33802 0.63403 -0.3289 0.65255 -0.31888 0.66899 C -0.31419 0.67663 -0.30846 0.68797 -0.30208 0.69237 C -0.29987 0.69375 -0.26849 0.71181 -0.25911 0.71551 C -0.25377 0.71783 -0.24844 0.71852 -0.2431 0.72084 C -0.19245 0.7419 -0.2664 0.71667 -0.19648 0.73889 C -0.1806 0.73681 -0.16588 0.73889 -0.1513 0.72593 C -0.147 0.722 -0.14323 0.71621 -0.13971 0.71042 C -0.11575 0.67107 -0.12578 0.68496 -0.10846 0.64306 C -0.10377 0.63195 -0.09804 0.62223 -0.09388 0.61065 C -0.08906 0.59769 -0.08515 0.58357 -0.08151 0.56945 C -0.05573 0.47153 -0.0612 0.50116 -0.05156 0.42825 C -0.05065 0.37408 -0.04935 0.37524 -0.05742 0.30788 C -0.05859 0.29792 -0.06159 0.28866 -0.06393 0.2794 C -0.06523 0.27454 -0.06666 0.26968 -0.06836 0.26505 C -0.07213 0.2551 -0.0776 0.24538 -0.08294 0.23797 C -0.08685 0.23241 -0.09075 0.22639 -0.09531 0.22246 C -0.10104 0.2176 -0.10729 0.21459 -0.11354 0.21204 C -0.13164 0.20463 -0.14961 0.19375 -0.1681 0.1926 L -0.18919 0.19144 C -0.21081 0.20325 -0.21549 0.20325 -0.23515 0.225 C -0.24088 0.23125 -0.24609 0.23913 -0.25117 0.247 C -0.2612 0.26274 -0.27044 0.28172 -0.27812 0.30139 C -0.28203 0.31158 -0.29414 0.34538 -0.29844 0.36227 C -0.30091 0.37153 -0.30286 0.38125 -0.30495 0.39075 C -0.30625 0.40371 -0.30833 0.41644 -0.30859 0.42963 C -0.30885 0.43982 -0.30234 0.46019 -0.30065 0.46713 C -0.29935 0.47269 -0.29831 0.47848 -0.297 0.4838 C -0.29388 0.49653 -0.2888 0.51181 -0.28463 0.52269 C -0.2819 0.52987 -0.27916 0.53727 -0.27591 0.54352 C -0.27422 0.54653 -0.26836 0.54908 -0.2664 0.55 C -0.25221 0.55649 -0.25755 0.5544 -0.2431 0.55764 C -0.23659 0.5551 -0.22942 0.55533 -0.22344 0.55 C -0.21862 0.54538 -0.21497 0.53704 -0.21185 0.52917 C -0.20625 0.51575 -0.2026 0.50811 -0.1987 0.49167 C -0.19622 0.48172 -0.19479 0.47107 -0.19284 0.46065 C -0.19153 0.44491 -0.19036 0.43588 -0.19062 0.41922 C -0.19101 0.39931 -0.18854 0.39977 -0.19284 0.39977 " pathEditMode="relative" ptsTypes="AAAAAAAAAAAAAAAAAAAAAAAAAAAAAAAAAAAAAA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000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6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199436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Jelenlegi állapot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4200" y="3163292"/>
            <a:ext cx="10723294" cy="1533624"/>
          </a:xfrm>
          <a:prstGeom prst="roundRect">
            <a:avLst>
              <a:gd name="adj" fmla="val 5746"/>
            </a:avLst>
          </a:prstGeom>
          <a:solidFill>
            <a:srgbClr val="790709"/>
          </a:solidFill>
          <a:ln w="12700">
            <a:solidFill>
              <a:srgbClr val="92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6900" y="3175992"/>
            <a:ext cx="5348947" cy="1508224"/>
          </a:xfrm>
          <a:custGeom>
            <a:avLst/>
            <a:gdLst/>
            <a:ahLst/>
            <a:cxnLst/>
            <a:rect l="l" t="t" r="r" b="b"/>
            <a:pathLst>
              <a:path w="5348947" h="1508224">
                <a:moveTo>
                  <a:pt x="73430" y="0"/>
                </a:moveTo>
                <a:lnTo>
                  <a:pt x="5348947" y="0"/>
                </a:lnTo>
                <a:lnTo>
                  <a:pt x="5348947" y="1508224"/>
                </a:lnTo>
                <a:lnTo>
                  <a:pt x="73430" y="1508224"/>
                </a:lnTo>
                <a:arcTo wR="73430" hR="73432" stAng="5400000" swAng="5400000"/>
                <a:lnTo>
                  <a:pt x="0" y="73432"/>
                </a:lnTo>
                <a:arcTo wR="73430" hR="73432" stAng="10800000" swAng="5400000"/>
                <a:close/>
              </a:path>
            </a:pathLst>
          </a:custGeom>
          <a:solidFill>
            <a:srgbClr val="790709"/>
          </a:solidFill>
          <a:ln/>
        </p:spPr>
      </p:sp>
      <p:sp>
        <p:nvSpPr>
          <p:cNvPr id="5" name="Text 3"/>
          <p:cNvSpPr/>
          <p:nvPr/>
        </p:nvSpPr>
        <p:spPr>
          <a:xfrm>
            <a:off x="956643" y="3385741"/>
            <a:ext cx="4929461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Kész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6643" y="3802955"/>
            <a:ext cx="4929461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Funkcionális specifikáció, oldalstruktúra, UI-koncepció, adatbázis-terv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5848" y="3175992"/>
            <a:ext cx="5348947" cy="1508224"/>
          </a:xfrm>
          <a:custGeom>
            <a:avLst/>
            <a:gdLst/>
            <a:ahLst/>
            <a:cxnLst/>
            <a:rect l="l" t="t" r="r" b="b"/>
            <a:pathLst>
              <a:path w="5348947" h="1508224">
                <a:moveTo>
                  <a:pt x="0" y="0"/>
                </a:moveTo>
                <a:lnTo>
                  <a:pt x="5275517" y="0"/>
                </a:lnTo>
                <a:arcTo wR="73430" hR="73432" stAng="16200000" swAng="5400000"/>
                <a:lnTo>
                  <a:pt x="5348947" y="1434792"/>
                </a:lnTo>
                <a:arcTo wR="73430" hR="73432" stAng="0" swAng="5400000"/>
                <a:lnTo>
                  <a:pt x="0" y="1508224"/>
                </a:lnTo>
                <a:lnTo>
                  <a:pt x="0" y="0"/>
                </a:lnTo>
                <a:close/>
              </a:path>
            </a:pathLst>
          </a:custGeom>
          <a:solidFill>
            <a:srgbClr val="790709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3175992"/>
            <a:ext cx="25399" cy="1508224"/>
          </a:xfrm>
          <a:prstGeom prst="roundRect">
            <a:avLst>
              <a:gd name="adj" fmla="val 50001"/>
            </a:avLst>
          </a:prstGeom>
          <a:solidFill>
            <a:srgbClr val="922022"/>
          </a:solidFill>
          <a:ln/>
        </p:spPr>
      </p:sp>
      <p:sp>
        <p:nvSpPr>
          <p:cNvPr id="9" name="Text 7"/>
          <p:cNvSpPr/>
          <p:nvPr/>
        </p:nvSpPr>
        <p:spPr>
          <a:xfrm>
            <a:off x="6305591" y="3385741"/>
            <a:ext cx="4929461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Következő lépés</a:t>
            </a:r>
            <a:endParaRPr lang="en-US" sz="1800" dirty="0">
              <a:latin typeface="Segoe UI Semibold" panose="020B07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5591" y="3802954"/>
            <a:ext cx="4929461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Font typeface="+mj-lt"/>
              <a:buAutoNum type="arabicPeriod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Adatbázis véglegesítése</a:t>
            </a:r>
          </a:p>
          <a:p>
            <a:pPr marL="342900" indent="-342900" algn="l">
              <a:lnSpc>
                <a:spcPct val="133000"/>
              </a:lnSpc>
              <a:buFont typeface="+mj-lt"/>
              <a:buAutoNum type="arabicPeriod"/>
            </a:pPr>
            <a:r>
              <a:rPr lang="en-US" sz="1650" dirty="0">
                <a:solidFill>
                  <a:srgbClr val="E5E0DF"/>
                </a:solidFill>
                <a:latin typeface="Segoe UI Semibold" panose="020B0702040204020203" pitchFamily="34" charset="0"/>
                <a:ea typeface="Barlow" pitchFamily="34" charset="-122"/>
                <a:cs typeface="Barlow" pitchFamily="34" charset="-120"/>
              </a:rPr>
              <a:t>Frontend és backend fejlesztés</a:t>
            </a:r>
            <a:endParaRPr lang="en-US" sz="1650" dirty="0">
              <a:latin typeface="Segoe UI Semibold" panose="020B0702040204020203" pitchFamily="34" charset="0"/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E1FF8D58-EAF1-48C5-94BE-6DFD86E2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828" y="6343578"/>
            <a:ext cx="1514686" cy="514422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AC802F5E-8603-4F51-9098-0C6F8298E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0" tmFilter="0, 0; 0.125,0.2665; 0.25,0.4; 0.375,0.465; 0.5,0.5;  0.625,0.535; 0.75,0.6; 0.875,0.7335; 1,1">
                                          <p:stCondLst>
                                            <p:cond delay="33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0" tmFilter="0, 0; 0.125,0.2665; 0.25,0.4; 0.375,0.465; 0.5,0.5;  0.625,0.535; 0.75,0.6; 0.875,0.7335; 1,1">
                                          <p:stCondLst>
                                            <p:cond delay="66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0" tmFilter="0, 0; 0.125,0.2665; 0.25,0.4; 0.375,0.465; 0.5,0.5;  0.625,0.535; 0.75,0.6; 0.875,0.7335; 1,1">
                                          <p:stCondLst>
                                            <p:cond delay="828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0">
                                          <p:stCondLst>
                                            <p:cond delay="3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0" decel="50000">
                                          <p:stCondLst>
                                            <p:cond delay="338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0">
                                          <p:stCondLst>
                                            <p:cond delay="656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0" decel="50000">
                                          <p:stCondLst>
                                            <p:cond delay="669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0">
                                          <p:stCondLst>
                                            <p:cond delay="821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0" decel="50000">
                                          <p:stCondLst>
                                            <p:cond delay="834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0">
                                          <p:stCondLst>
                                            <p:cond delay="904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0" decel="50000">
                                          <p:stCondLst>
                                            <p:cond delay="91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8487" y="111387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sz="3650" dirty="0">
                <a:solidFill>
                  <a:srgbClr val="FFFFFF"/>
                </a:solidFill>
                <a:latin typeface="Segoe UI Semibold" panose="020B0702040204020203" pitchFamily="34" charset="0"/>
              </a:rPr>
              <a:t>Feladat felosztás</a:t>
            </a:r>
            <a:endParaRPr lang="en-US" sz="3650" dirty="0">
              <a:latin typeface="Segoe UI Semibold" panose="020B0702040204020203" pitchFamily="34" charset="0"/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8726E8D-0BB4-414E-9222-EAA5F407E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43578"/>
            <a:ext cx="1514686" cy="514422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6ABCC13-B72D-453B-A40C-0BDC757D0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E63657D5-1F53-4817-A7AB-B58975559789}"/>
              </a:ext>
            </a:extLst>
          </p:cNvPr>
          <p:cNvSpPr txBox="1"/>
          <p:nvPr/>
        </p:nvSpPr>
        <p:spPr>
          <a:xfrm>
            <a:off x="858487" y="2219417"/>
            <a:ext cx="6811820" cy="3089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5280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Zoltán: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Adatbázis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Frontend</a:t>
            </a:r>
          </a:p>
          <a:p>
            <a:pPr marL="335280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Zsolt: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Backend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Frontend</a:t>
            </a:r>
          </a:p>
          <a:p>
            <a:pPr marL="335280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Márton: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Frontend</a:t>
            </a:r>
          </a:p>
          <a:p>
            <a:pPr marL="792480" lvl="2" indent="-335280">
              <a:lnSpc>
                <a:spcPct val="133000"/>
              </a:lnSpc>
              <a:buSzPct val="100000"/>
              <a:buFont typeface="Wingdings" panose="05000000000000000000" pitchFamily="2" charset="2"/>
              <a:buChar char="q"/>
            </a:pPr>
            <a:r>
              <a:rPr lang="hu-HU" sz="1650" dirty="0">
                <a:solidFill>
                  <a:srgbClr val="E5E0DF"/>
                </a:solidFill>
                <a:latin typeface="Segoe UI Semibold" panose="020B0702040204020203" pitchFamily="34" charset="0"/>
              </a:rPr>
              <a:t>Adatbázis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0" tmFilter="0, 0; 0.125,0.2665; 0.25,0.4; 0.375,0.465; 0.5,0.5;  0.625,0.535; 0.75,0.6; 0.875,0.7335; 1,1">
                                          <p:stCondLst>
                                            <p:cond delay="33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0" tmFilter="0, 0; 0.125,0.2665; 0.25,0.4; 0.375,0.465; 0.5,0.5;  0.625,0.535; 0.75,0.6; 0.875,0.7335; 1,1">
                                          <p:stCondLst>
                                            <p:cond delay="6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0" tmFilter="0, 0; 0.125,0.2665; 0.25,0.4; 0.375,0.465; 0.5,0.5;  0.625,0.535; 0.75,0.6; 0.875,0.7335; 1,1">
                                          <p:stCondLst>
                                            <p:cond delay="828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0">
                                          <p:stCondLst>
                                            <p:cond delay="32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0" decel="50000">
                                          <p:stCondLst>
                                            <p:cond delay="338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0">
                                          <p:stCondLst>
                                            <p:cond delay="656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0" decel="50000">
                                          <p:stCondLst>
                                            <p:cond delay="669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0">
                                          <p:stCondLst>
                                            <p:cond delay="821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0" decel="50000">
                                          <p:stCondLst>
                                            <p:cond delay="834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0">
                                          <p:stCondLst>
                                            <p:cond delay="904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0" decel="50000">
                                          <p:stCondLst>
                                            <p:cond delay="917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3206406"/>
            <a:ext cx="10723294" cy="804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50" dirty="0">
                <a:solidFill>
                  <a:srgbClr val="FFFFFF"/>
                </a:solidFill>
                <a:latin typeface="Segoe UI Semibold" panose="020B0702040204020203" pitchFamily="34" charset="0"/>
                <a:ea typeface="Barlow Medium" pitchFamily="34" charset="-122"/>
                <a:cs typeface="Barlow Medium" pitchFamily="34" charset="-120"/>
              </a:rPr>
              <a:t>Köszönjük a figyelmet!</a:t>
            </a:r>
            <a:endParaRPr lang="en-US" sz="5050" dirty="0">
              <a:latin typeface="Segoe UI Semibold" panose="020B0702040204020203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D03FAF2-CC95-419E-B394-E29D539B7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314" y="6318178"/>
            <a:ext cx="1514686" cy="51442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951915B-70A0-4F8C-B1F8-6C280717C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795" y="318613"/>
            <a:ext cx="765877" cy="765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194</Words>
  <Application>Microsoft Office PowerPoint</Application>
  <PresentationFormat>Szélesvásznú</PresentationFormat>
  <Paragraphs>77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Segoe UI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lastModifiedBy>Erdélyi Zsolt</cp:lastModifiedBy>
  <cp:revision>9</cp:revision>
  <dcterms:created xsi:type="dcterms:W3CDTF">2026-10-13T11:04:16Z</dcterms:created>
  <dcterms:modified xsi:type="dcterms:W3CDTF">2026-10-21T12:51:19Z</dcterms:modified>
</cp:coreProperties>
</file>